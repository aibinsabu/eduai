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1" r:id="rId6"/>
    <p:sldId id="533" r:id="rId7"/>
    <p:sldId id="536" r:id="rId8"/>
    <p:sldId id="547" r:id="rId9"/>
    <p:sldId id="546" r:id="rId10"/>
    <p:sldId id="548" r:id="rId11"/>
    <p:sldId id="549" r:id="rId12"/>
    <p:sldId id="538" r:id="rId13"/>
    <p:sldId id="539" r:id="rId14"/>
    <p:sldId id="5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85E2B-9929-4608-A244-F2AF6C06676B}" v="162" dt="2025-09-25T15:42:40.664"/>
    <p1510:client id="{511E9280-019C-4E52-86A9-F7A7C13D8112}" v="205" dt="2025-09-25T16:48:30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22"/>
  </p:normalViewPr>
  <p:slideViewPr>
    <p:cSldViewPr snapToGrid="0">
      <p:cViewPr varScale="1">
        <p:scale>
          <a:sx n="78" d="100"/>
          <a:sy n="78" d="100"/>
        </p:scale>
        <p:origin x="8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ea typeface="+mj-lt"/>
                <a:cs typeface="+mj-lt"/>
              </a:rPr>
              <a:t>AI-Powered Online Examination and Learning Management Systems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Aibin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Sabu NIE22CS006 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Albert Joji NIE22CS008 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Midhul M 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NIE22CS032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DDCBF-0B94-5501-34C3-D4C67AF6D246}"/>
              </a:ext>
            </a:extLst>
          </p:cNvPr>
          <p:cNvSpPr txBox="1"/>
          <p:nvPr/>
        </p:nvSpPr>
        <p:spPr>
          <a:xfrm>
            <a:off x="4526280" y="1356360"/>
            <a:ext cx="42815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Segoe UI Light"/>
              </a:rPr>
              <a:t>First interim Project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DE3CD-B561-61F8-C797-441FA1AA4300}"/>
              </a:ext>
            </a:extLst>
          </p:cNvPr>
          <p:cNvSpPr txBox="1"/>
          <p:nvPr/>
        </p:nvSpPr>
        <p:spPr>
          <a:xfrm>
            <a:off x="3923869" y="5867111"/>
            <a:ext cx="45691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Project Guide: Ms. Linny Sunny, AP, CSE</a:t>
            </a:r>
            <a:endParaRPr lang="en-US" sz="2000" b="1">
              <a:solidFill>
                <a:schemeClr val="bg1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/>
              </a:rPr>
              <a:t>agenda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896546"/>
            <a:ext cx="7859871" cy="32826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Introduction to AI in Educational Technology 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Paper 1: AI-based Automated Question Paper Generation Using NLP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Paper 2: Secure Online Examination Systems - Cheating Prevention 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Paper 3: Automated Grading and Evaluation Using Deep Learning 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Paper 4: AI-driven Role-based Authentication in Academic Systems 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Paper 5: AI-powered Doubt Resolution Systems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Comparative Analysis and Key Findings  </a:t>
            </a:r>
          </a:p>
          <a:p>
            <a:pPr marL="342900" indent="-342900"/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 and Recommendations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805" y="102022"/>
            <a:ext cx="7735824" cy="106984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0428" y="1485296"/>
            <a:ext cx="9691144" cy="11338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Paradigm Shift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Traditional education methods evolving to AI-powered systems 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Driving Forces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Increased student populations, administrative burdens, need for scalability 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Key Challenges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Maintaining quality while improving efficiency and accessibility 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Natural Language Processing (NLP) for content understanding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Machine Learning for pattern recognition and personalization 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Computer Vision for monitoring and authentication 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Deep Learning for complex cognitive tasks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5 Research Papers reviewed (2024 publications)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Focus Areas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Question generation, security,  authentication, student support Technology</a:t>
            </a:r>
          </a:p>
          <a:p>
            <a:pPr marL="285750" indent="-285750" algn="l">
              <a:buFont typeface="Arial" panose="02070309020205020404" pitchFamily="49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Stack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Transformer models, CNN, LSTM, Biometric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3200" b="0" dirty="0">
                <a:ln w="28575">
                  <a:noFill/>
                  <a:prstDash val="solid"/>
                </a:ln>
                <a:ea typeface="+mj-lt"/>
                <a:cs typeface="+mj-lt"/>
              </a:rPr>
              <a:t>Paper 1: AI-based Automated Question Paper Generation Using NLP Techniques </a:t>
            </a:r>
            <a:endParaRPr lang="en-US" sz="3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23E45F-6F6C-9AFC-2C11-C8AFA39C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Manual question paper creation is time-consuming, inconsistent, and error-prone.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NLP-based system (Gemini-1.5 Pro model) with content analysis, question generation, and quality assurance.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80% faster question creation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95% syllabus coverage, 85% instructor approval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Scalable, bias reduction, real-time quality checks.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Limitations: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Needs quality input material, high computational cost.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0E858-E080-8456-362D-38C11FB4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EC1F-1C3B-7CAA-3C14-35B7D6E2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3200" b="0" dirty="0">
                <a:ln w="28575">
                  <a:noFill/>
                  <a:prstDash val="solid"/>
                </a:ln>
                <a:ea typeface="+mj-lt"/>
                <a:cs typeface="+mj-lt"/>
              </a:rPr>
              <a:t>Paper 2: Secure Online Examination Systems - Cheating Prevention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14DA4-7A0C-C150-6C4A-CBF3F78FDE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6985C4-792C-1DDD-0077-149D3F43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870" y="2212848"/>
            <a:ext cx="11109098" cy="3547872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Online exams face cheating risks like impersonation, collusion, and screen switching.</a:t>
            </a: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Multi-modal approach (computer vision, ML anomaly detection, biometrics, behavioral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analytics).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65% reduction in cheating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90%+ 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detection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Real-time detection, scalable, adaptive learning.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Limitations: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Privacy concerns, high cost, false positives.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endParaRPr lang="en-US" sz="2400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0575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3FBC-4991-57DD-01B7-4C1D17FD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C0F0-BB07-6077-5CAA-0D483342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3200" b="0" dirty="0">
                <a:ln w="28575">
                  <a:noFill/>
                  <a:prstDash val="solid"/>
                </a:ln>
                <a:ea typeface="+mj-lt"/>
                <a:cs typeface="+mj-lt"/>
              </a:rPr>
              <a:t>Paper 3: Automated Grading and Evaluation Using Deep Learning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E87F9-5E59-4307-0DEF-FC87A45281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9CA2DD-EE36-77E8-ADCB-EF0F34E01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Manual grading is slow, inconsistent, and subjective.</a:t>
            </a: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Deep learning models (BERT, CNN, </a:t>
            </a:r>
            <a:r>
              <a:rPr lang="en-US" sz="24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BiLSTM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 with transfer learning and reinforcement learning.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80% accuracy, strong correlation with human graders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Partial credit &amp; detailed feedback possible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Scalable, unbiased, continuous improvement.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Limitations: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Black-box issue, high training data needs, weak with creative/open-ended answers.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endParaRPr lang="en-US" sz="2400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70823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E1D3-9BE8-DC9B-24AD-AB31A517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C332-598E-7960-882D-BD13E90C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3200" b="0" dirty="0">
                <a:ln w="28575">
                  <a:noFill/>
                  <a:prstDash val="solid"/>
                </a:ln>
                <a:ea typeface="+mj-lt"/>
                <a:cs typeface="+mj-lt"/>
              </a:rPr>
              <a:t>Paper 4: AI-driven Role-based Authentication in Academic Systems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EF72B-BE53-8785-334E-D0914EFDBC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4366FD-D155-29FB-C8F5-3E31F3F31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Managing access in academic systems with many users and roles is complex.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AI-enhanced RBAC (Role-Based Access Control) with biometrics, behavioral analytics, anomaly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65% fewer unauthorized accesses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92% accuracy in role assignment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Adaptive, continuous authentication, scalable.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/>
              <a:buChar char="o"/>
            </a:pPr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Limitations: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Setup complexity, privacy concerns, resource-heavy.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6498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8FC7-2F0B-69EB-2AF4-DC9CBB6E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34A7-854E-F948-5FE1-3973D478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3200" b="0" dirty="0">
                <a:ln w="28575">
                  <a:noFill/>
                  <a:prstDash val="solid"/>
                </a:ln>
                <a:ea typeface="+mj-lt"/>
                <a:cs typeface="+mj-lt"/>
              </a:rPr>
              <a:t>Paper 5: AI-powered Doubt Resolution Systems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CD0D1-1E1E-D863-7F40-C5B76CA459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C73F39-A727-039F-FE5F-0CA5C4B3C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Students lack real-time support in online learning, leading to reduced engagement.</a:t>
            </a: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LLMs + knowledge graphs + semantic search for personalized, 24/7 doubt resolution.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40% higher course completion rates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85%+ correct responses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Instant support, personalized answers, scalable across domains.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Limitations: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Struggles with subjective/creative queries, risk of over-dependence, context limitations.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indent="-347345"/>
            <a:endParaRPr lang="en-US" sz="2400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11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5498074"/>
          </a:xfrm>
        </p:spPr>
        <p:txBody>
          <a:bodyPr/>
          <a:lstStyle/>
          <a:p>
            <a:r>
              <a:rPr lang="en-US" sz="4400" b="0" dirty="0">
                <a:ea typeface="+mj-lt"/>
                <a:cs typeface="+mj-lt"/>
              </a:rPr>
              <a:t>Technology </a:t>
            </a:r>
            <a:br>
              <a:rPr lang="en-US" sz="4400" b="0" dirty="0">
                <a:ea typeface="+mj-lt"/>
                <a:cs typeface="+mj-lt"/>
              </a:rPr>
            </a:br>
            <a:r>
              <a:rPr lang="en-US" sz="4400" b="0" dirty="0">
                <a:ea typeface="+mj-lt"/>
                <a:cs typeface="+mj-lt"/>
              </a:rPr>
              <a:t>Architecture </a:t>
            </a:r>
            <a:br>
              <a:rPr lang="en-US" sz="4400" b="0" dirty="0">
                <a:ea typeface="+mj-lt"/>
                <a:cs typeface="+mj-lt"/>
              </a:rPr>
            </a:br>
            <a:endParaRPr lang="en-US" sz="4400" b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Picture 10" descr="A diagram of a computer software&#10;&#10;AI-generated content may be incorrect.">
            <a:extLst>
              <a:ext uri="{FF2B5EF4-FFF2-40B4-BE49-F238E27FC236}">
                <a16:creationId xmlns:a16="http://schemas.microsoft.com/office/drawing/2014/main" id="{8B50A8D6-B332-1DDE-CC5C-FFBEF530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A8E1C34-A398-4529-5393-E27E91D12BC9}"/>
              </a:ext>
            </a:extLst>
          </p:cNvPr>
          <p:cNvSpPr txBox="1"/>
          <p:nvPr/>
        </p:nvSpPr>
        <p:spPr>
          <a:xfrm>
            <a:off x="3050588" y="348220"/>
            <a:ext cx="61362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a typeface="+mn-lt"/>
                <a:cs typeface="+mn-lt"/>
              </a:rPr>
              <a:t>Conclusion and Key Takeaways</a:t>
            </a:r>
            <a:endParaRPr lang="en-US" sz="3200" b="1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001AE7-EE5D-5635-7652-30E5B1469915}"/>
              </a:ext>
            </a:extLst>
          </p:cNvPr>
          <p:cNvSpPr txBox="1"/>
          <p:nvPr/>
        </p:nvSpPr>
        <p:spPr>
          <a:xfrm>
            <a:off x="1417894" y="1502721"/>
            <a:ext cx="893547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Human-AI Collaboration: Augmentation rather than replacement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Privacy-First Design: Balancing functionality with user rights 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Improvement: Systems that learn and adapt Accessibility Focus: Inclusive design for diverse populations 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Learning: Individual-optimized educational experiences Intelligent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Assessment: Context-aware, fair evaluation systems Proactive 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Support: Predictive assistance for learning challenges Global </a:t>
            </a:r>
          </a:p>
          <a:p>
            <a:pPr marL="285750" indent="-285750">
              <a:buFont typeface="Wingdings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Accessibility: Breaking down geographical and economic barriers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3</TotalTime>
  <Words>668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Segoe UI Light</vt:lpstr>
      <vt:lpstr>Times New Roman</vt:lpstr>
      <vt:lpstr>Tw Cen MT</vt:lpstr>
      <vt:lpstr>Wingdings</vt:lpstr>
      <vt:lpstr>Office Theme</vt:lpstr>
      <vt:lpstr>AI-Powered Online Examination and Learning Management Systems</vt:lpstr>
      <vt:lpstr>agenda</vt:lpstr>
      <vt:lpstr>INTRODUCTION</vt:lpstr>
      <vt:lpstr>Paper 1: AI-based Automated Question Paper Generation Using NLP Techniques </vt:lpstr>
      <vt:lpstr>Paper 2: Secure Online Examination Systems - Cheating Prevention</vt:lpstr>
      <vt:lpstr>Paper 3: Automated Grading and Evaluation Using Deep Learning</vt:lpstr>
      <vt:lpstr>Paper 4: AI-driven Role-based Authentication in Academic Systems</vt:lpstr>
      <vt:lpstr>Paper 5: AI-powered Doubt Resolution Systems </vt:lpstr>
      <vt:lpstr>Technology  Architecture 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joji</dc:creator>
  <cp:lastModifiedBy>albert joji</cp:lastModifiedBy>
  <cp:revision>189</cp:revision>
  <dcterms:created xsi:type="dcterms:W3CDTF">2025-09-25T15:18:26Z</dcterms:created>
  <dcterms:modified xsi:type="dcterms:W3CDTF">2025-09-26T16:00:21Z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